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Proporsi Segmentasi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Kedai Kopi &amp; Kafe Kecil (55%)</c:v>
                </c:pt>
                <c:pt idx="1">
                  <c:v>Kedai Fast-Food Lokal (30%)</c:v>
                </c:pt>
                <c:pt idx="2">
                  <c:v>Franchise Multi-Outlet (15%)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0.3</c:v>
                </c:pt>
                <c:pt idx="2">
                  <c:v>0.15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FFFFFF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(Rp Miliar)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Tahun 1</c:v>
                </c:pt>
                <c:pt idx="1">
                  <c:v>Tahun 2</c:v>
                </c:pt>
                <c:pt idx="2">
                  <c:v>Tahun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12.0</c:v>
                </c:pt>
                <c:pt idx="2">
                  <c:v>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82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2DD4BF"/>
                </a:solidFill>
                <a:latin typeface="Arial"/>
              </a:defRPr>
            </a:pPr>
            <a:r>
              <a:t>INVESTOR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5400" b="1" i="0">
                <a:solidFill>
                  <a:srgbClr val="FFFFFF"/>
                </a:solidFill>
                <a:latin typeface="Arial"/>
              </a:defRPr>
            </a:pPr>
            <a:r>
              <a:t>Bestari 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Revolusi Point of Sale Offline-First untuk Digitalisasi Operasional F&amp;B dan UMKM Kuliner.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 i="1">
                <a:solidFill>
                  <a:srgbClr val="2DD4BF"/>
                </a:solidFill>
                <a:latin typeface="Arial"/>
              </a:defRPr>
            </a:pPr>
            <a:r>
              <a:t>"Transaksi Jalan Terus, Tanpa Khawatir Internet Putus."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Tim Pengembang Bestari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0292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TARGET PENDANAAN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2578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Rp 2 Miliar (Seed Round)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371600"/>
            <a:ext cx="3657600" cy="4114800"/>
          </a:xfrm>
          <a:prstGeom prst="roundRect">
            <a:avLst/>
          </a:prstGeom>
          <a:solidFill>
            <a:srgbClr val="08212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64592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Bestari Kasir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108960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☕ Kopi Susu Aren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231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1x Rp 18.000</a:t>
            </a:r>
          </a:p>
        </p:txBody>
      </p:sp>
      <p:sp>
        <p:nvSpPr>
          <p:cNvPr id="17" name="Oval 16"/>
          <p:cNvSpPr/>
          <p:nvPr/>
        </p:nvSpPr>
        <p:spPr>
          <a:xfrm>
            <a:off x="10789920" y="228600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🥐 Croissant Butter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632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2x Rp 44.000</a:t>
            </a:r>
          </a:p>
        </p:txBody>
      </p:sp>
      <p:sp>
        <p:nvSpPr>
          <p:cNvPr id="20" name="Oval 19"/>
          <p:cNvSpPr/>
          <p:nvPr/>
        </p:nvSpPr>
        <p:spPr>
          <a:xfrm>
            <a:off x="10789920" y="292608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47472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🍵 Matcha Latte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0332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1x Rp 24.000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20" y="356616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2976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 i="0">
                <a:solidFill>
                  <a:srgbClr val="2DD4BF"/>
                </a:solidFill>
                <a:latin typeface="Arial"/>
              </a:defRPr>
            </a:pPr>
            <a:r>
              <a:t>Total: Rp 86.000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663440"/>
            <a:ext cx="310896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70916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PROSES BAYAR (OFFLINE READY)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Masalah Utama POS Tradisional di Lapangan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1. Ketergantungan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Sebagian besar POS modern bergantung penuh pada jaringan cloud.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Saat internet putus atau lambat di jam sibuk, operasional kasir lumpuh total.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Hal ini memicu antrean panjang, kepanikan staf, dan kekecewaan pelanggan.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2. Kehilangan Data Penjualan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Sistem pencatatan manual atau POS offline tradisional rentan mengalami kegagalan hardware lokal.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Sinkronisasi data manual pasca-koneksi mati sering memicu konflik data (conflict) dan tumpang tindih transaksi.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3. Beban Biaya Bulanan Tinggi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Vendor POS cloud membebankan tarif langganan bulanan per perangkat (device) yang memberatkan UMKM.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Seringkali ada biaya tambahan (add-on) terpisah untuk modul stok bahan baku dan antrean dapur.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Bestari POS: Arsitektur Kasir Offline-First Tangguh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 i="0">
                <a:solidFill>
                  <a:srgbClr val="FFFFFF"/>
                </a:solidFill>
                <a:latin typeface="Arial"/>
              </a:defRPr>
            </a:pPr>
            <a:r>
              <a:t>Kami mendesain sistem POS yang berjalan mandiri di browser kasir secara 100% offline, namun terintegrasi cloud secara seamless.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260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Downtime Tolerant</a:t>
            </a:r>
            <a:br/>
            <a:r>
              <a:t>Operasional kasir berjalan 100% normal tanpa koneksi internet (baca &amp; tulis database lokal).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9319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Sinkronisasi Otomatis &amp; Cerdas</a:t>
            </a:r>
            <a:br/>
            <a:r>
              <a:t>Begitu koneksi internet terdeteksi kembali, sinkronisasi latar belakang berjalan aman ke database Supabase tanpa interupsi.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93776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Instalasi Instan &amp; Tanpa Alat Khusus</a:t>
            </a:r>
            <a:br/>
            <a:r>
              <a:t>Dapat dipasang sebagai PWA (Progressive Web App) pada tablet, handphone, maupun laptop kasir langsung dari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011680"/>
            <a:ext cx="4846320" cy="10972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945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💻 POS Kasir (IndexedDB / Dexie.js)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517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Menampung katalog produk, stok bahan, struk antrean, dan data transaksi secara lokal di memori browser.</a:t>
            </a:r>
          </a:p>
        </p:txBody>
      </p:sp>
      <p:sp>
        <p:nvSpPr>
          <p:cNvPr id="16" name="Up-Down Arrow 15"/>
          <p:cNvSpPr/>
          <p:nvPr/>
        </p:nvSpPr>
        <p:spPr>
          <a:xfrm>
            <a:off x="8595360" y="3291840"/>
            <a:ext cx="731520" cy="548640"/>
          </a:xfrm>
          <a:prstGeom prst="upDown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33832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 i="0">
                <a:solidFill>
                  <a:srgbClr val="2DD4BF"/>
                </a:solidFill>
                <a:latin typeface="Arial"/>
              </a:defRPr>
            </a:pPr>
            <a:r>
              <a:t>Background 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023360"/>
            <a:ext cx="4846320" cy="10972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☁️ Supabase PostgreSQL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63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Sinkronisasi data penjualan real-time, backup otomatis harian, verifikasi lisensi perangkat, dan dashboard analitik owner.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Fitur Komprehensif Siap Operasional UMKM F&amp;B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🛒 Kasir &amp; Add-on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03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Input pesanan instan.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Manajemen add-on / varian rasa produk (seperti sirup tambahan, espresso shot).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Pemberian diskon manual atau otomatis harian.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👥 Antrean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2103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Modul antrean dapur terintegrasi.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Pembagian status visual: Menunggu, Diproses, hingga Siap Disajikan kepada konsumen.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📦 Bahan Baku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103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Manajemen stok resep bahan baku.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Pengurangan bahan secara otomatis saat menu terjual (misal: memotong biji kopi &amp; susu per cup).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📊 Laporan &amp;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2103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Laporan penjualan, item terlaris, dan omzet harian.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Lisensi aktivasi cloud untuk keamanan B2B SaaS.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Auto backup lokal dan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Kombinasi Teknologi Modern &amp; Skalabilitas Tinggi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828800"/>
            <a:ext cx="914400" cy="914400"/>
          </a:xfrm>
          <a:prstGeom prst="ellipse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2DD4BF"/>
                </a:solidFill>
                <a:latin typeface="Arial"/>
              </a:defRPr>
            </a:pPr>
            <a:r>
              <a:t>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560320" cy="29260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React 19 &amp;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Render komponen UI kasir yang sangat cepat (latensi rendering &lt; 16ms).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Pemuatan aplikasi awal instan di bawah 1 detik.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Ukuran bundle ringan untuk menekan konsumsi data seluler.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1828800"/>
            <a:ext cx="914400" cy="914400"/>
          </a:xfrm>
          <a:prstGeom prst="ellipse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2DD4BF"/>
                </a:solidFill>
                <a:latin typeface="Arial"/>
              </a:defRPr>
            </a:pPr>
            <a:r>
              <a:t>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926080"/>
            <a:ext cx="2560320" cy="29260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Dexie.js &amp; IndexedDB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Database transaksional lokal terindeks di browser kasir.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Kecepatan tulis data transaksi instan (0ms) tanpa menunggu respon jaringan internet.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Kapasitas penyimpanan data offline hingga gigabyte.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1828800"/>
            <a:ext cx="914400" cy="914400"/>
          </a:xfrm>
          <a:prstGeom prst="ellipse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103120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2DD4BF"/>
                </a:solidFill>
                <a:latin typeface="Arial"/>
              </a:defRPr>
            </a:pPr>
            <a:r>
              <a:t>SU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2560320" cy="29260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Supabase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Backend-as-a-Service berbasis database relasional PostgreSQL.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Sinkronisasi data real-time, autentikasi multi-kasir, dan penyimpanan foto menu.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Sistem otentikasi lisensi terpusat.</a:t>
            </a:r>
          </a:p>
        </p:txBody>
      </p:sp>
      <p:sp>
        <p:nvSpPr>
          <p:cNvPr id="21" name="Oval 20"/>
          <p:cNvSpPr/>
          <p:nvPr/>
        </p:nvSpPr>
        <p:spPr>
          <a:xfrm>
            <a:off x="9784080" y="1828800"/>
            <a:ext cx="914400" cy="914400"/>
          </a:xfrm>
          <a:prstGeom prst="ellipse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103120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2DD4BF"/>
                </a:solidFill>
                <a:latin typeface="Arial"/>
              </a:defRPr>
            </a:pPr>
            <a:r>
              <a:t>PW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926080"/>
            <a:ext cx="2560320" cy="29260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PWA (Progressive Web App)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66160"/>
            <a:ext cx="2194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Dapat diinstal langsung dari browser ke home screen perangkat kasir.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Kompatibel penuh di semua OS (Android, iOS, Windows, macOS).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Mendukung pembaruan aplikasi otomatis tanpa campur tangan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Peluang Pasar &amp; Target Segmentasi UMKM F&amp;B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Bestari POS membidik sektor ritel makanan dan minuman (F&amp;B) kelas menengah ke bawah yang tersebar di kota tier 2 dan 3 di Indonesia.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029200" cy="10972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Total Addressable Market (TAM)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Terdapat 64.2 Juta+ unit UMKM di Indonesia, yang merupakan fondasi utama perekonomian nasional.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10972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Serviceable Addressable Market (SAM)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2.4 Juta+ gerai ritel kuliner &amp; F&amp;B aktif (kedai kopi mandiri, warung makan lokal, franchise kecil).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5029200" cy="10972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Serviceable Obtainable Market (SOM)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Target awal mengakuisisi 10.000 merchant aktif dalam jangka waktu 3 tahun pasca-pendanaan.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0" y="1828800"/>
          <a:ext cx="5029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Fokus Segmentasi Target Merchant Awal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Model Pendapatan SaaS B2B Skalabel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02336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Starter (Lokal Mandiri)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Rp 149.000 / Bulan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------------------------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Maksimal 1 perangkat aktif.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Akses fitur kasir &amp; manajemen varian penuh.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Penyimpanan database lokal di browser kasir.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Ekspor laporan penjualan ke Excel secara offline.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Dukungan offline-first penuh.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420624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Professional (Cloud Linked)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089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Rp 299.000 / Bulan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------------------------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Sinkronisasi multi-device (kasir &amp; dapur).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Cloud backup otomatis ke Supabase.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Modul stok &amp; kalkulator resep bahan baku.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Dashboard grafik laporan owner (real-time).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Prioritas update fitur &amp; dukungan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291840" cy="402336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White-Label (Enterprise)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Skema Lisensi / Kustom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------------------------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Domain kustom &amp; logo usaha mandiri.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Dedicated cloud server database Supabase.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Integrasi API ke sistem pemesanan luar.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Akses source code penuh.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SLA Dukungan 24/7 Premium.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Proyeksi Pertumbuhan Merchant &amp; Pendapatan ARR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Proyeksi target pencapaian bisnis dalam jangka waktu 3 tahun ke depan: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Tahun 1: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1.500 Merchant Aktif | ARR Rp 3.5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Fokus akuisisi di wilayah perkotaan Jabodetabek.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Tahun 2: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5.000 Merchant Aktif | ARR Rp 12.0 Miliar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Ekspansi pasar ke wilayah Bandung, Surabaya, dan Yogyakarta.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Tahun 3: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12.000 Merchant Aktif | ARR Rp 30.0 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Kemitraan korporasi F&amp;B multi-outlet di tingkat nasional.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 i="0">
                <a:solidFill>
                  <a:srgbClr val="2DD4BF"/>
                </a:solidFill>
                <a:latin typeface="Arial"/>
              </a:defRPr>
            </a:pPr>
            <a:r>
              <a:t>Proyeksi ARR (Annual Recurring Revenue) dalam Rp Miliar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Rencana Alokasi Dana Pendanaan Benih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94A3B8"/>
                </a:solidFill>
                <a:latin typeface="Arial"/>
              </a:defRPr>
            </a:pPr>
            <a:r>
              <a:t>KEBUTUHAN DANA SEED ROUND: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4800" b="1" i="0">
                <a:solidFill>
                  <a:srgbClr val="2DD4BF"/>
                </a:solidFill>
                <a:latin typeface="Arial"/>
              </a:defRPr>
            </a:pPr>
            <a:r>
              <a:t>Rp 2.000.000.000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Investasi ini direncanakan untuk mempercepat perluasan jangkauan pasar Bestari POS, menyelesaikan modul integrasi pembayaran cashless otomatis (QRIS), serta merekrut tim inti pengembang produk dan pemasaran lapangan.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💻 R&amp;D &amp; Pengembangan Produk (50%)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0116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100" b="1" i="0">
                <a:solidFill>
                  <a:srgbClr val="2DD4BF"/>
                </a:solidFill>
                <a:latin typeface="Arial"/>
              </a:defRPr>
            </a:pPr>
            <a:r>
              <a:t>Rp 1.0 Miliar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31720"/>
            <a:ext cx="5029200" cy="109728"/>
          </a:xfrm>
          <a:prstGeom prst="rect">
            <a:avLst/>
          </a:prstGeom>
          <a:solidFill>
            <a:srgbClr val="082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331720"/>
            <a:ext cx="25146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Integrasi pembayaran QRIS dinamis otomatis, e-wallet, dan modul dashboard owner versi mobile iOS &amp; Android.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🚀 Sales &amp; Pemasaran Lapangan (35%)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3832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100" b="1" i="0">
                <a:solidFill>
                  <a:srgbClr val="2DD4BF"/>
                </a:solidFill>
                <a:latin typeface="Arial"/>
              </a:defRPr>
            </a:pPr>
            <a:r>
              <a:t>Rp 700 Juta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03320"/>
            <a:ext cx="5029200" cy="109728"/>
          </a:xfrm>
          <a:prstGeom prst="rect">
            <a:avLst/>
          </a:prstGeom>
          <a:solidFill>
            <a:srgbClr val="082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03320"/>
            <a:ext cx="1760219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Akuisisi merchant langsung di kota-kota tier 2, kampanye digital terarah, dan promosi komunitas UMKM kuliner.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⚙️ Infrastruktur &amp; Operasional (15%)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7548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100" b="1" i="0">
                <a:solidFill>
                  <a:srgbClr val="2DD4BF"/>
                </a:solidFill>
                <a:latin typeface="Arial"/>
              </a:defRPr>
            </a:pPr>
            <a:r>
              <a:t>Rp 300 Juta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074920"/>
            <a:ext cx="5029200" cy="109728"/>
          </a:xfrm>
          <a:prstGeom prst="rect">
            <a:avLst/>
          </a:prstGeom>
          <a:solidFill>
            <a:srgbClr val="082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5074920"/>
            <a:ext cx="7543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Biaya server cloud database Supabase, lisensi perangkat lunak keamanan data, operasional legalitas badan usaha.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8212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 i="0">
                <a:solidFill>
                  <a:srgbClr val="2DD4BF"/>
                </a:solidFill>
                <a:latin typeface="Arial"/>
              </a:defRPr>
            </a:pPr>
            <a:r>
              <a:t>Mari Berkolaborasi Mendigitalisasi UMKM Indonesia!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409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Bergabunglah bersama kami sebagai investor untuk menghadirkan solusi kasir handal bebas downtime bagi jutaan pengusaha kuliner tanah air.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566160"/>
            <a:ext cx="4876495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Hubungi Kami untuk Diskusi Lebih Lanjut:</a:t>
            </a:r>
            <a:br/>
            <a:r>
              <a:t>📧 email: info@bestaripos.com   |   🌐 website: bestaripos.com   |   📍 Jakarta,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