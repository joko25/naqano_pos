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16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303520" cy="6858000"/>
          </a:xfrm>
          <a:prstGeom prst="rect">
            <a:avLst/>
          </a:prstGeom>
          <a:solidFill>
            <a:srgbClr val="0821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73152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100" b="1" i="0">
                <a:solidFill>
                  <a:srgbClr val="2DD4BF"/>
                </a:solidFill>
                <a:latin typeface="Arial"/>
              </a:defRPr>
            </a:pPr>
            <a:r>
              <a:t>APLIKASI KASIR WIRAUSAHA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7315200" cy="1097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5400" b="1" i="0">
                <a:solidFill>
                  <a:srgbClr val="FFFFFF"/>
                </a:solidFill>
                <a:latin typeface="Arial"/>
              </a:defRPr>
            </a:pPr>
            <a:r>
              <a:t>Bestari POS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108960"/>
            <a:ext cx="7315200" cy="914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500" b="0" i="0">
                <a:solidFill>
                  <a:srgbClr val="94A3B8"/>
                </a:solidFill>
                <a:latin typeface="Arial"/>
              </a:defRPr>
            </a:pPr>
            <a:r>
              <a:t>Solusi Kasir Pintar Offline-First. Jualan Lancar Tanpa Takut Internet Macet, Kelola Stok &amp; Laporan Langsung di Genggaman.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114800"/>
            <a:ext cx="73152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300" b="0" i="1">
                <a:solidFill>
                  <a:srgbClr val="2DD4BF"/>
                </a:solidFill>
                <a:latin typeface="Arial"/>
              </a:defRPr>
            </a:pPr>
            <a:r>
              <a:t>"Transaksi Jalan Terus, Staf Nyaman, Omzet Terpantau Aman!"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120640"/>
            <a:ext cx="22860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900" b="1" i="0">
                <a:solidFill>
                  <a:srgbClr val="94A3B8"/>
                </a:solidFill>
                <a:latin typeface="Arial"/>
              </a:defRPr>
            </a:pPr>
            <a:r>
              <a:t>UNTUK INFORMASI &amp; DEMO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349240"/>
            <a:ext cx="22860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300" b="1" i="0">
                <a:solidFill>
                  <a:srgbClr val="FFFFFF"/>
                </a:solidFill>
                <a:latin typeface="Arial"/>
              </a:defRPr>
            </a:pPr>
            <a:r>
              <a:t>info@bestaripos.com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74720" y="5120640"/>
            <a:ext cx="2743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900" b="1" i="0">
                <a:solidFill>
                  <a:srgbClr val="94A3B8"/>
                </a:solidFill>
                <a:latin typeface="Arial"/>
              </a:defRPr>
            </a:pPr>
            <a:r>
              <a:t>PROGRAM KEMITRAAN UMKM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74720" y="5349240"/>
            <a:ext cx="27432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300" b="1" i="0">
                <a:solidFill>
                  <a:srgbClr val="2DD4BF"/>
                </a:solidFill>
                <a:latin typeface="Arial"/>
              </a:defRPr>
            </a:pPr>
            <a:r>
              <a:t>Gratis Uji Coba 14 Hari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0" y="1371600"/>
            <a:ext cx="3657600" cy="4114800"/>
          </a:xfrm>
          <a:prstGeom prst="roundRect">
            <a:avLst/>
          </a:prstGeom>
          <a:solidFill>
            <a:srgbClr val="082125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20" y="1645920"/>
            <a:ext cx="310896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400" b="1" i="0">
                <a:solidFill>
                  <a:srgbClr val="FFFFFF"/>
                </a:solidFill>
                <a:latin typeface="Arial"/>
              </a:defRPr>
            </a:pPr>
            <a:r>
              <a:t>Bestari Kasir App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46720" y="2011680"/>
            <a:ext cx="3108960" cy="13716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0" y="2194560"/>
            <a:ext cx="18288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100" b="1" i="0">
                <a:solidFill>
                  <a:srgbClr val="FFFFFF"/>
                </a:solidFill>
                <a:latin typeface="Arial"/>
              </a:defRPr>
            </a:pPr>
            <a:r>
              <a:t>☕ Kopi Susu Aren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20" y="2423160"/>
            <a:ext cx="18288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000" b="0" i="0">
                <a:solidFill>
                  <a:srgbClr val="94A3B8"/>
                </a:solidFill>
                <a:latin typeface="Arial"/>
              </a:defRPr>
            </a:pPr>
            <a:r>
              <a:t>1x Rp 18.000</a:t>
            </a:r>
          </a:p>
        </p:txBody>
      </p:sp>
      <p:sp>
        <p:nvSpPr>
          <p:cNvPr id="17" name="Oval 16"/>
          <p:cNvSpPr/>
          <p:nvPr/>
        </p:nvSpPr>
        <p:spPr>
          <a:xfrm>
            <a:off x="10789920" y="2286000"/>
            <a:ext cx="228600" cy="22860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46720" y="2834640"/>
            <a:ext cx="18288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100" b="1" i="0">
                <a:solidFill>
                  <a:srgbClr val="FFFFFF"/>
                </a:solidFill>
                <a:latin typeface="Arial"/>
              </a:defRPr>
            </a:pPr>
            <a:r>
              <a:t>🥐 Croissant Butter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20" y="3063240"/>
            <a:ext cx="18288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000" b="0" i="0">
                <a:solidFill>
                  <a:srgbClr val="94A3B8"/>
                </a:solidFill>
                <a:latin typeface="Arial"/>
              </a:defRPr>
            </a:pPr>
            <a:r>
              <a:t>2x Rp 44.000</a:t>
            </a:r>
          </a:p>
        </p:txBody>
      </p:sp>
      <p:sp>
        <p:nvSpPr>
          <p:cNvPr id="20" name="Oval 19"/>
          <p:cNvSpPr/>
          <p:nvPr/>
        </p:nvSpPr>
        <p:spPr>
          <a:xfrm>
            <a:off x="10789920" y="2926080"/>
            <a:ext cx="228600" cy="22860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46720" y="3474720"/>
            <a:ext cx="18288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100" b="1" i="0">
                <a:solidFill>
                  <a:srgbClr val="FFFFFF"/>
                </a:solidFill>
                <a:latin typeface="Arial"/>
              </a:defRPr>
            </a:pPr>
            <a:r>
              <a:t>🍵 Matcha Latte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46720" y="3703320"/>
            <a:ext cx="18288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000" b="0" i="0">
                <a:solidFill>
                  <a:srgbClr val="94A3B8"/>
                </a:solidFill>
                <a:latin typeface="Arial"/>
              </a:defRPr>
            </a:pPr>
            <a:r>
              <a:t>1x Rp 24.000</a:t>
            </a:r>
          </a:p>
        </p:txBody>
      </p:sp>
      <p:sp>
        <p:nvSpPr>
          <p:cNvPr id="23" name="Oval 22"/>
          <p:cNvSpPr/>
          <p:nvPr/>
        </p:nvSpPr>
        <p:spPr>
          <a:xfrm>
            <a:off x="10789920" y="3566160"/>
            <a:ext cx="228600" cy="22860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46720" y="4297680"/>
            <a:ext cx="18288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400" b="1" i="0">
                <a:solidFill>
                  <a:srgbClr val="2DD4BF"/>
                </a:solidFill>
                <a:latin typeface="Arial"/>
              </a:defRPr>
            </a:pPr>
            <a:r>
              <a:t>Total: Rp 86.000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46720" y="4663440"/>
            <a:ext cx="3108960" cy="457200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046720" y="4709160"/>
            <a:ext cx="310896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000" b="1" i="0">
                <a:solidFill>
                  <a:srgbClr val="FFFFFF"/>
                </a:solidFill>
                <a:latin typeface="Arial"/>
              </a:defRPr>
            </a:pPr>
            <a:r>
              <a:t>BAYAR (BISA OFFLINE)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16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DD4BF"/>
                </a:solidFill>
                <a:latin typeface="Arial"/>
              </a:defRPr>
            </a:pPr>
            <a:r>
              <a:t>MASALAH WIRAUSAHA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9144000" cy="73152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Pernahkah Bisnis Anda Mengalami Masalah Ini?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728655" cy="1828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3291840" cy="4114800"/>
          </a:xfrm>
          <a:prstGeom prst="roundRect">
            <a:avLst/>
          </a:prstGeom>
          <a:solidFill>
            <a:srgbClr val="082125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500" b="1">
                <a:solidFill>
                  <a:srgbClr val="FFFFFF"/>
                </a:solidFill>
                <a:latin typeface="Arial"/>
              </a:defRPr>
            </a:pPr>
            <a:r>
              <a:t>1. Internet Mati = Kasir Macet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468880"/>
            <a:ext cx="2926080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  <a:latin typeface="Arial"/>
              </a:defRPr>
            </a:pPr>
            <a:r>
              <a:t>Saat koneksi Wi-Fi bermasalah atau sinyal provider melemah, kasir berbasis cloud biasa langsung hang.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  <a:latin typeface="Arial"/>
              </a:defRPr>
            </a:pPr>
            <a:r>
              <a:t>Staf panik, terjadi antrean panjang di meja kasir, dan pembeli yang kesal akhirnya pergi ke kompetitor.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  <a:latin typeface="Arial"/>
              </a:defRPr>
            </a:pPr>
            <a:r>
              <a:t>Operasional harian lumpuh total!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828800"/>
            <a:ext cx="3291840" cy="4114800"/>
          </a:xfrm>
          <a:prstGeom prst="roundRect">
            <a:avLst/>
          </a:prstGeom>
          <a:solidFill>
            <a:srgbClr val="082125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2011680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500" b="1">
                <a:solidFill>
                  <a:srgbClr val="FFFFFF"/>
                </a:solidFill>
                <a:latin typeface="Arial"/>
              </a:defRPr>
            </a:pPr>
            <a:r>
              <a:t>2. Stok Bahan Baku Sering Bocor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2468880"/>
            <a:ext cx="2926080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  <a:latin typeface="Arial"/>
              </a:defRPr>
            </a:pPr>
            <a:r>
              <a:t>Bahan mahal seperti susu, biji kopi, daging, atau cup saji sering habis tidak wajar tanpa alasan yang jelas.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  <a:latin typeface="Arial"/>
              </a:defRPr>
            </a:pPr>
            <a:r>
              <a:t>Sangat sulit menghitung secara akurat kecocokan stok fisik dengan porsi menu terjual.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  <a:latin typeface="Arial"/>
              </a:defRPr>
            </a:pPr>
            <a:r>
              <a:t>Bocornya stok memotong profit bulanan Anda secara diam-diam.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828800"/>
            <a:ext cx="3291840" cy="4114800"/>
          </a:xfrm>
          <a:prstGeom prst="roundRect">
            <a:avLst/>
          </a:prstGeom>
          <a:solidFill>
            <a:srgbClr val="082125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0" y="2011680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500" b="1">
                <a:solidFill>
                  <a:srgbClr val="FFFFFF"/>
                </a:solidFill>
                <a:latin typeface="Arial"/>
              </a:defRPr>
            </a:pPr>
            <a:r>
              <a:t>3. Biaya Bulanan &amp; Alat Mahal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0" y="2468880"/>
            <a:ext cx="2926080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  <a:latin typeface="Arial"/>
              </a:defRPr>
            </a:pPr>
            <a:r>
              <a:t>Banyak vendor kasir mengenakan biaya bulanan yang mahal per perangkat yang terhubung.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  <a:latin typeface="Arial"/>
              </a:defRPr>
            </a:pPr>
            <a:r>
              <a:t>Ada juga biaya tambahan untuk fitur wajib seperti modul dapur atau manajemen stok.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  <a:latin typeface="Arial"/>
              </a:defRPr>
            </a:pPr>
            <a:r>
              <a:t>Beberapa bahkan mengharuskan Anda membeli alat mesin kasir khusus mereka.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16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DD4BF"/>
                </a:solidFill>
                <a:latin typeface="Arial"/>
              </a:defRPr>
            </a:pPr>
            <a:r>
              <a:t>SOLUSI KAMI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9144000" cy="73152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Bestari POS: Kasir Lancar Bebas Gangguan Internet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728655" cy="1828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5303520" cy="914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400" b="0" i="0">
                <a:solidFill>
                  <a:srgbClr val="FFFFFF"/>
                </a:solidFill>
                <a:latin typeface="Arial"/>
              </a:defRPr>
            </a:pPr>
            <a:r>
              <a:t>Aplikasi Kasir Bestari didesain dengan teknologi modern offline-first yang bekerja mandiri di perangkat kasir Anda. Internet kencang? Bagus. Internet mati? Tidak masalah!</a:t>
            </a:r>
          </a:p>
        </p:txBody>
      </p:sp>
      <p:sp>
        <p:nvSpPr>
          <p:cNvPr id="7" name="Oval 6"/>
          <p:cNvSpPr/>
          <p:nvPr/>
        </p:nvSpPr>
        <p:spPr>
          <a:xfrm>
            <a:off x="731520" y="2926080"/>
            <a:ext cx="274320" cy="27432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2880360"/>
            <a:ext cx="4846320" cy="914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200" b="0" i="0">
                <a:solidFill>
                  <a:srgbClr val="94A3B8"/>
                </a:solidFill>
                <a:latin typeface="Arial"/>
              </a:defRPr>
            </a:pPr>
            <a:r>
              <a:t>Toleran Terhadap Gangguan Internet</a:t>
            </a:r>
            <a:br/>
            <a:r>
              <a:t>Semua transaksi kasir, input menu, diskon, dan cetak struk berjalan 100% normal tanpa jaringan internet.</a:t>
            </a:r>
          </a:p>
        </p:txBody>
      </p:sp>
      <p:sp>
        <p:nvSpPr>
          <p:cNvPr id="9" name="Oval 8"/>
          <p:cNvSpPr/>
          <p:nvPr/>
        </p:nvSpPr>
        <p:spPr>
          <a:xfrm>
            <a:off x="731520" y="3931920"/>
            <a:ext cx="274320" cy="27432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88720" y="3886200"/>
            <a:ext cx="4846320" cy="914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200" b="0" i="0">
                <a:solidFill>
                  <a:srgbClr val="94A3B8"/>
                </a:solidFill>
                <a:latin typeface="Arial"/>
              </a:defRPr>
            </a:pPr>
            <a:r>
              <a:t>Auto Sync ke Cloud Secara Aman</a:t>
            </a:r>
            <a:br/>
            <a:r>
              <a:t>Begitu internet terhubung kembali, aplikasi secara cerdas mensinkronkan transaksi ke server awan (cloud) di latar belakang.</a:t>
            </a:r>
          </a:p>
        </p:txBody>
      </p:sp>
      <p:sp>
        <p:nvSpPr>
          <p:cNvPr id="11" name="Oval 10"/>
          <p:cNvSpPr/>
          <p:nvPr/>
        </p:nvSpPr>
        <p:spPr>
          <a:xfrm>
            <a:off x="731520" y="4937760"/>
            <a:ext cx="274320" cy="27432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88720" y="4892040"/>
            <a:ext cx="4846320" cy="914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200" b="0" i="0">
                <a:solidFill>
                  <a:srgbClr val="94A3B8"/>
                </a:solidFill>
                <a:latin typeface="Arial"/>
              </a:defRPr>
            </a:pPr>
            <a:r>
              <a:t>Hemat Data Seluler &amp; Hardware</a:t>
            </a:r>
            <a:br/>
            <a:r>
              <a:t>Tidak memerlukan data internet berkapasitas besar. Dapat berjalan di HP kasir yang Anda miliki sekarang tanpa perlu beli alat baru.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0" y="2011680"/>
            <a:ext cx="4846320" cy="1097280"/>
          </a:xfrm>
          <a:prstGeom prst="roundRect">
            <a:avLst/>
          </a:prstGeom>
          <a:solidFill>
            <a:srgbClr val="082125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66560" y="2194560"/>
            <a:ext cx="44805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500" b="1">
                <a:solidFill>
                  <a:srgbClr val="FFFFFF"/>
                </a:solidFill>
                <a:latin typeface="Arial"/>
              </a:defRPr>
            </a:pPr>
            <a:r>
              <a:t>💻 Tablet / HP Kasir Anda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66560" y="2651760"/>
            <a:ext cx="44805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  <a:latin typeface="Arial"/>
              </a:defRPr>
            </a:pPr>
            <a:r>
              <a:t>Menyimpan data penjualan, katalog menu, diskon secara aman langsung di memori browser perangkat (Offline Mode).</a:t>
            </a:r>
          </a:p>
        </p:txBody>
      </p:sp>
      <p:sp>
        <p:nvSpPr>
          <p:cNvPr id="16" name="Up-Down Arrow 15"/>
          <p:cNvSpPr/>
          <p:nvPr/>
        </p:nvSpPr>
        <p:spPr>
          <a:xfrm>
            <a:off x="8595360" y="3291840"/>
            <a:ext cx="731520" cy="548640"/>
          </a:xfrm>
          <a:prstGeom prst="upDownArrow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509760" y="3383280"/>
            <a:ext cx="18288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000" b="1" i="0">
                <a:solidFill>
                  <a:srgbClr val="2DD4BF"/>
                </a:solidFill>
                <a:latin typeface="Arial"/>
              </a:defRPr>
            </a:pPr>
            <a:r>
              <a:t>Otomatis Sinkron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0" y="4023360"/>
            <a:ext cx="4846320" cy="1097280"/>
          </a:xfrm>
          <a:prstGeom prst="roundRect">
            <a:avLst/>
          </a:prstGeom>
          <a:solidFill>
            <a:srgbClr val="082125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0" y="4206240"/>
            <a:ext cx="44805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500" b="1">
                <a:solidFill>
                  <a:srgbClr val="FFFFFF"/>
                </a:solidFill>
                <a:latin typeface="Arial"/>
              </a:defRPr>
            </a:pPr>
            <a:r>
              <a:t>☁️ Database Cloud Bestari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66560" y="4663440"/>
            <a:ext cx="44805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  <a:latin typeface="Arial"/>
              </a:defRPr>
            </a:pPr>
            <a:r>
              <a:t>Mengamankan backup data transaksi harian, menyajikan dashboard grafis penjualan, dan memantau multi-outlet wirausaha.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16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DD4BF"/>
                </a:solidFill>
                <a:latin typeface="Arial"/>
              </a:defRPr>
            </a:pPr>
            <a:r>
              <a:t>FITUR UNGGULAN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9144000" cy="73152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Transaksi Kasir Instan &amp; Antrean Dapur Teratur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728655" cy="1828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5029200" cy="914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400" b="0" i="0">
                <a:solidFill>
                  <a:srgbClr val="FFFFFF"/>
                </a:solidFill>
                <a:latin typeface="Arial"/>
              </a:defRPr>
            </a:pPr>
            <a:r>
              <a:t>Proses transaksi kasir secepat kilat dengan antrean yang terpantau rapi dari depan (kasir) ke belakang (barista/koki).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743200"/>
            <a:ext cx="5029200" cy="1645920"/>
          </a:xfrm>
          <a:prstGeom prst="roundRect">
            <a:avLst/>
          </a:prstGeom>
          <a:solidFill>
            <a:srgbClr val="082125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926080"/>
            <a:ext cx="46634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500" b="1">
                <a:solidFill>
                  <a:srgbClr val="FFFFFF"/>
                </a:solidFill>
                <a:latin typeface="Arial"/>
              </a:defRPr>
            </a:pPr>
            <a:r>
              <a:t>🛒 Kasir Super Cepat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383280"/>
            <a:ext cx="466344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  <a:latin typeface="Arial"/>
              </a:defRPr>
            </a:pPr>
            <a:r>
              <a:t>• Menu instan dengan variasi rasa (add-on) dan modifikasi porsi.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  <a:latin typeface="Arial"/>
              </a:defRPr>
            </a:pPr>
            <a:r>
              <a:t>• Input diskon potongan harga langsung atau persentase.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  <a:latin typeface="Arial"/>
              </a:defRPr>
            </a:pPr>
            <a:r>
              <a:t>• Pencatatan jenis pembayaran tunai maupun e-wallet/cashless.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  <a:latin typeface="Arial"/>
              </a:defRPr>
            </a:pPr>
            <a:r>
              <a:t>• Cetak struk struk fisik atau kirim struk digital lewat WhatsApp.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572000"/>
            <a:ext cx="5029200" cy="1645920"/>
          </a:xfrm>
          <a:prstGeom prst="roundRect">
            <a:avLst/>
          </a:prstGeom>
          <a:solidFill>
            <a:srgbClr val="082125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4754880"/>
            <a:ext cx="46634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500" b="1">
                <a:solidFill>
                  <a:srgbClr val="FFFFFF"/>
                </a:solidFill>
                <a:latin typeface="Arial"/>
              </a:defRPr>
            </a:pPr>
            <a:r>
              <a:t>👥 Layar Antrean Dapur (Kitchen Display)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5212080"/>
            <a:ext cx="466344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  <a:latin typeface="Arial"/>
              </a:defRPr>
            </a:pPr>
            <a:r>
              <a:t>• Hubungkan tablet/HP di dapur untuk menerima pesanan real-time.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  <a:latin typeface="Arial"/>
              </a:defRPr>
            </a:pPr>
            <a:r>
              <a:t>• Singkirkan kertas struk cetak yang gampang hilang atau basah.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  <a:latin typeface="Arial"/>
              </a:defRPr>
            </a:pPr>
            <a:r>
              <a:t>• Status visual pesanan yang jelas: Menunggu -&gt; Diproses -&gt; Selesai.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  <a:latin typeface="Arial"/>
              </a:defRPr>
            </a:pPr>
            <a:r>
              <a:t>• Mengurangi kesalahan staf dapur dalam menyajikan menu.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2011680"/>
            <a:ext cx="5029200" cy="4114800"/>
          </a:xfrm>
          <a:prstGeom prst="roundRect">
            <a:avLst/>
          </a:prstGeom>
          <a:solidFill>
            <a:srgbClr val="082125"/>
          </a:solidFill>
          <a:ln w="1905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75120" y="2286000"/>
            <a:ext cx="448056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400" b="1" i="0">
                <a:solidFill>
                  <a:srgbClr val="FFFFFF"/>
                </a:solidFill>
                <a:latin typeface="Arial"/>
              </a:defRPr>
            </a:pPr>
            <a:r>
              <a:t>Visual Antrean Dapur (Dapur View)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675120" y="2834640"/>
            <a:ext cx="1417320" cy="365760"/>
          </a:xfrm>
          <a:prstGeom prst="round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75120" y="2880360"/>
            <a:ext cx="141732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900" b="1" i="0">
                <a:solidFill>
                  <a:srgbClr val="FFFFFF"/>
                </a:solidFill>
                <a:latin typeface="Arial"/>
              </a:defRPr>
            </a:pPr>
            <a:r>
              <a:t>MENUNGGU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675120" y="3291840"/>
            <a:ext cx="1417320" cy="2377440"/>
          </a:xfrm>
          <a:prstGeom prst="roundRect">
            <a:avLst/>
          </a:prstGeom>
          <a:solidFill>
            <a:srgbClr val="051619"/>
          </a:solidFill>
          <a:ln w="1270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748272" y="3383280"/>
            <a:ext cx="1280160" cy="21945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900" b="0" i="0">
                <a:solidFill>
                  <a:srgbClr val="94A3B8"/>
                </a:solidFill>
                <a:latin typeface="Arial"/>
              </a:defRPr>
            </a:pPr>
            <a:r>
              <a:t>Kopi Susu Aren - 1x</a:t>
            </a:r>
            <a:br/>
            <a:r>
              <a:t>Matcha Latte - 1x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83880" y="2834640"/>
            <a:ext cx="1417320" cy="365760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183880" y="2880360"/>
            <a:ext cx="141732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900" b="1" i="0">
                <a:solidFill>
                  <a:srgbClr val="FFFFFF"/>
                </a:solidFill>
                <a:latin typeface="Arial"/>
              </a:defRPr>
            </a:pPr>
            <a:r>
              <a:t>DIPROSES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83880" y="3291840"/>
            <a:ext cx="1417320" cy="2377440"/>
          </a:xfrm>
          <a:prstGeom prst="roundRect">
            <a:avLst/>
          </a:prstGeom>
          <a:solidFill>
            <a:srgbClr val="051619"/>
          </a:solidFill>
          <a:ln w="1270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57032" y="3383280"/>
            <a:ext cx="1280160" cy="21945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900" b="0" i="0">
                <a:solidFill>
                  <a:srgbClr val="94A3B8"/>
                </a:solidFill>
                <a:latin typeface="Arial"/>
              </a:defRPr>
            </a:pPr>
            <a:r>
              <a:t>Choco Lava - 2x</a:t>
            </a:r>
            <a:br/>
            <a:r>
              <a:t>Espresso - 1x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692640" y="2834640"/>
            <a:ext cx="1417320" cy="36576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92640" y="2880360"/>
            <a:ext cx="141732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900" b="1" i="0">
                <a:solidFill>
                  <a:srgbClr val="FFFFFF"/>
                </a:solidFill>
                <a:latin typeface="Arial"/>
              </a:defRPr>
            </a:pPr>
            <a:r>
              <a:t>SIAP SAJI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692640" y="3291840"/>
            <a:ext cx="1417320" cy="2377440"/>
          </a:xfrm>
          <a:prstGeom prst="roundRect">
            <a:avLst/>
          </a:prstGeom>
          <a:solidFill>
            <a:srgbClr val="051619"/>
          </a:solidFill>
          <a:ln w="1270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765792" y="3383280"/>
            <a:ext cx="1280160" cy="21945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900" b="0" i="0">
                <a:solidFill>
                  <a:srgbClr val="94A3B8"/>
                </a:solidFill>
                <a:latin typeface="Arial"/>
              </a:defRPr>
            </a:pPr>
            <a:r>
              <a:t>Croissant Butter - 2x</a:t>
            </a:r>
            <a:br/>
            <a:r>
              <a:t>Ice Lemon Tea - 1x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16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DD4BF"/>
                </a:solidFill>
                <a:latin typeface="Arial"/>
              </a:defRPr>
            </a:pPr>
            <a:r>
              <a:t>FITUR UNGGULAN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9144000" cy="73152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Kontrol Bahan Baku Otomatis &amp; Stop Bocor!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728655" cy="1828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5029200" cy="4114800"/>
          </a:xfrm>
          <a:prstGeom prst="roundRect">
            <a:avLst/>
          </a:prstGeom>
          <a:solidFill>
            <a:srgbClr val="082125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194560"/>
            <a:ext cx="46634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500" b="1">
                <a:solidFill>
                  <a:srgbClr val="FFFFFF"/>
                </a:solidFill>
                <a:latin typeface="Arial"/>
              </a:defRPr>
            </a:pPr>
            <a:r>
              <a:t>Mengapa Manajemen Bahan Baku Bestari POS Penting?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651760"/>
            <a:ext cx="4663440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  <a:latin typeface="Arial"/>
              </a:defRPr>
            </a:pPr>
            <a:r>
              <a:t>Aplikasi kami memiliki modul kalkulator resep terintegrasi.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  <a:latin typeface="Arial"/>
              </a:defRPr>
            </a:pPr>
            <a:r>
              <a:t>Anda dapat menentukan formula resep untuk setiap menu. Misalnya, 1 gelas Kopi Susu Aren membutuhkan:</a:t>
            </a:r>
            <a:br/>
            <a:r>
              <a:t>- Biji Kopi Espresso: 15 gram</a:t>
            </a:r>
            <a:br/>
            <a:r>
              <a:t>- Susu Fresh Milk: 100 ml</a:t>
            </a:r>
            <a:br/>
            <a:r>
              <a:t>- Gula Aren Cair: 20 ml</a:t>
            </a:r>
            <a:br/>
            <a:r>
              <a:t>- Cup &amp; Sedotan: 1 unit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  <a:latin typeface="Arial"/>
              </a:defRPr>
            </a:pPr>
            <a:r>
              <a:t>Setiap kali kasir mengetuk tombol bayar untuk menu tersebut, stok bahan baku Anda langsung terpotong secara otomatis di gudang penyimpanan.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  <a:latin typeface="Arial"/>
              </a:defRPr>
            </a:pPr>
            <a:r>
              <a:t>• Ketahui stok menipis secara instan.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  <a:latin typeface="Arial"/>
              </a:defRPr>
            </a:pPr>
            <a:r>
              <a:t>• Hindari kecurangan atau hilangnya bahan tanpa pencatatan.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  <a:latin typeface="Arial"/>
              </a:defRPr>
            </a:pPr>
            <a:r>
              <a:t>• Belanja bahan baku terjadwal sesuai laporan sisa stok.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828800"/>
            <a:ext cx="50292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300" b="1" i="0">
                <a:solidFill>
                  <a:srgbClr val="2DD4BF"/>
                </a:solidFill>
                <a:latin typeface="Arial"/>
              </a:defRPr>
            </a:pPr>
            <a:r>
              <a:t>Simulasi Pengurangan Bahan Baku Otomatis</a:t>
            </a:r>
          </a:p>
        </p:txBody>
      </p:sp>
      <p:sp>
        <p:nvSpPr>
          <p:cNvPr id="10" name="Oval 9"/>
          <p:cNvSpPr/>
          <p:nvPr/>
        </p:nvSpPr>
        <p:spPr>
          <a:xfrm>
            <a:off x="6400800" y="2468880"/>
            <a:ext cx="548640" cy="548640"/>
          </a:xfrm>
          <a:prstGeom prst="ellipse">
            <a:avLst/>
          </a:prstGeom>
          <a:solidFill>
            <a:srgbClr val="082125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2560320"/>
            <a:ext cx="54864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100" b="1" i="0">
                <a:solidFill>
                  <a:srgbClr val="0D9488"/>
                </a:solidFill>
                <a:latin typeface="Arial"/>
              </a:defRPr>
            </a:pPr>
            <a: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0" y="2377440"/>
            <a:ext cx="42976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200" b="1" i="0">
                <a:solidFill>
                  <a:srgbClr val="FFFFFF"/>
                </a:solidFill>
                <a:latin typeface="Arial"/>
              </a:defRPr>
            </a:pPr>
            <a:r>
              <a:t>☕ Transaksi Kasir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0" y="2606040"/>
            <a:ext cx="429768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000" b="0" i="0">
                <a:solidFill>
                  <a:srgbClr val="94A3B8"/>
                </a:solidFill>
                <a:latin typeface="Arial"/>
              </a:defRPr>
            </a:pPr>
            <a:r>
              <a:t>Pembeli memesan 2x Kopi Susu Aren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656832" y="3017520"/>
            <a:ext cx="36576" cy="36576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400800" y="3474720"/>
            <a:ext cx="548640" cy="548640"/>
          </a:xfrm>
          <a:prstGeom prst="ellipse">
            <a:avLst/>
          </a:prstGeom>
          <a:solidFill>
            <a:srgbClr val="082125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3566160"/>
            <a:ext cx="54864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100" b="1" i="0">
                <a:solidFill>
                  <a:srgbClr val="0D9488"/>
                </a:solidFill>
                <a:latin typeface="Arial"/>
              </a:defRPr>
            </a:pPr>
            <a: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32320" y="3383280"/>
            <a:ext cx="42976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200" b="1" i="0">
                <a:solidFill>
                  <a:srgbClr val="FFFFFF"/>
                </a:solidFill>
                <a:latin typeface="Arial"/>
              </a:defRPr>
            </a:pPr>
            <a:r>
              <a:t>🧮 Hitung Resep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32320" y="3611880"/>
            <a:ext cx="429768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000" b="0" i="0">
                <a:solidFill>
                  <a:srgbClr val="94A3B8"/>
                </a:solidFill>
                <a:latin typeface="Arial"/>
              </a:defRPr>
            </a:pPr>
            <a:r>
              <a:t>Sistem mengalikan porsi (2x) dengan resep terdaftar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656832" y="4023360"/>
            <a:ext cx="36576" cy="36576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400800" y="4480560"/>
            <a:ext cx="548640" cy="548640"/>
          </a:xfrm>
          <a:prstGeom prst="ellipse">
            <a:avLst/>
          </a:prstGeom>
          <a:solidFill>
            <a:srgbClr val="082125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0" y="4572000"/>
            <a:ext cx="54864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100" b="1" i="0">
                <a:solidFill>
                  <a:srgbClr val="10B981"/>
                </a:solidFill>
                <a:latin typeface="Arial"/>
              </a:defRPr>
            </a:pPr>
            <a: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32320" y="4389120"/>
            <a:ext cx="42976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200" b="1" i="0">
                <a:solidFill>
                  <a:srgbClr val="FFFFFF"/>
                </a:solidFill>
                <a:latin typeface="Arial"/>
              </a:defRPr>
            </a:pPr>
            <a:r>
              <a:t>📉 Stok Terpotong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32320" y="4617720"/>
            <a:ext cx="429768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000" b="0" i="0">
                <a:solidFill>
                  <a:srgbClr val="94A3B8"/>
                </a:solidFill>
                <a:latin typeface="Arial"/>
              </a:defRPr>
            </a:pPr>
            <a:r>
              <a:t>Biji Kopi -30g, Fresh Milk -200ml, Cup -2pcs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656832" y="5029200"/>
            <a:ext cx="36576" cy="36576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400800" y="5486400"/>
            <a:ext cx="548640" cy="548640"/>
          </a:xfrm>
          <a:prstGeom prst="ellipse">
            <a:avLst/>
          </a:prstGeom>
          <a:solidFill>
            <a:srgbClr val="082125"/>
          </a:solidFill>
          <a:ln w="254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0" y="5577840"/>
            <a:ext cx="54864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100" b="1" i="0">
                <a:solidFill>
                  <a:srgbClr val="EF4444"/>
                </a:solidFill>
                <a:latin typeface="Arial"/>
              </a:defRPr>
            </a:pPr>
            <a:r>
              <a:t>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32320" y="5394960"/>
            <a:ext cx="42976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200" b="1" i="0">
                <a:solidFill>
                  <a:srgbClr val="FFFFFF"/>
                </a:solidFill>
                <a:latin typeface="Arial"/>
              </a:defRPr>
            </a:pPr>
            <a:r>
              <a:t>⚠️ Peringatan Stok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32320" y="5623560"/>
            <a:ext cx="429768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000" b="0" i="0">
                <a:solidFill>
                  <a:srgbClr val="94A3B8"/>
                </a:solidFill>
                <a:latin typeface="Arial"/>
              </a:defRPr>
            </a:pPr>
            <a:r>
              <a:t>Stok Fresh Milk menipis! (Sisa 1.2 Liter)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16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DD4BF"/>
                </a:solidFill>
                <a:latin typeface="Arial"/>
              </a:defRPr>
            </a:pPr>
            <a:r>
              <a:t>FITUR UNGGULAN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9144000" cy="73152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Laporan Keuangan Real-Time &amp; Akses Owner Aman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728655" cy="1828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2468880" cy="3931920"/>
          </a:xfrm>
          <a:prstGeom prst="roundRect">
            <a:avLst/>
          </a:prstGeom>
          <a:solidFill>
            <a:srgbClr val="082125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194560"/>
            <a:ext cx="2103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500" b="1">
                <a:solidFill>
                  <a:srgbClr val="FFFFFF"/>
                </a:solidFill>
                <a:latin typeface="Arial"/>
              </a:defRPr>
            </a:pPr>
            <a:r>
              <a:t>📊 Laporan Omzet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651760"/>
            <a:ext cx="2103120" cy="3108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  <a:latin typeface="Arial"/>
              </a:defRPr>
            </a:pPr>
            <a:r>
              <a:t>Lihat total penjualan harian, mingguan, atau bulanan secara grafis.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  <a:latin typeface="Arial"/>
              </a:defRPr>
            </a:pPr>
            <a:r>
              <a:t>Ketahui margin profit bersih kotor secara otomatis.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74720" y="2011680"/>
            <a:ext cx="2468880" cy="3931920"/>
          </a:xfrm>
          <a:prstGeom prst="roundRect">
            <a:avLst/>
          </a:prstGeom>
          <a:solidFill>
            <a:srgbClr val="082125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0" y="2194560"/>
            <a:ext cx="2103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500" b="1">
                <a:solidFill>
                  <a:srgbClr val="FFFFFF"/>
                </a:solidFill>
                <a:latin typeface="Arial"/>
              </a:defRPr>
            </a:pPr>
            <a:r>
              <a:t>📈 Produk Terlaris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2651760"/>
            <a:ext cx="2103120" cy="3108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  <a:latin typeface="Arial"/>
              </a:defRPr>
            </a:pPr>
            <a:r>
              <a:t>Sistem menampilkan produk yang paling laku terjual.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  <a:latin typeface="Arial"/>
              </a:defRPr>
            </a:pPr>
            <a:r>
              <a:t>Hapus menu yang tidak laku dan optimalkan stok menu terlaris.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2011680"/>
            <a:ext cx="2468880" cy="3931920"/>
          </a:xfrm>
          <a:prstGeom prst="roundRect">
            <a:avLst/>
          </a:prstGeom>
          <a:solidFill>
            <a:srgbClr val="082125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2194560"/>
            <a:ext cx="2103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500" b="1">
                <a:solidFill>
                  <a:srgbClr val="FFFFFF"/>
                </a:solidFill>
                <a:latin typeface="Arial"/>
              </a:defRPr>
            </a:pPr>
            <a:r>
              <a:t>🔑 Keamanan PIN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2651760"/>
            <a:ext cx="2103120" cy="3108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  <a:latin typeface="Arial"/>
              </a:defRPr>
            </a:pPr>
            <a:r>
              <a:t>Batasi akses staf kasir Anda.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  <a:latin typeface="Arial"/>
              </a:defRPr>
            </a:pPr>
            <a:r>
              <a:t>Kasir hanya bisa memasukkan order, sedangkan data laporan keuangan dikunci hanya untuk owner.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61120" y="2011680"/>
            <a:ext cx="2468880" cy="3931920"/>
          </a:xfrm>
          <a:prstGeom prst="roundRect">
            <a:avLst/>
          </a:prstGeom>
          <a:solidFill>
            <a:srgbClr val="082125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0" y="2194560"/>
            <a:ext cx="2103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500" b="1">
                <a:solidFill>
                  <a:srgbClr val="FFFFFF"/>
                </a:solidFill>
                <a:latin typeface="Arial"/>
              </a:defRPr>
            </a:pPr>
            <a:r>
              <a:t>☁️ Pantau dari Jauh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0" y="2651760"/>
            <a:ext cx="2103120" cy="3108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  <a:latin typeface="Arial"/>
              </a:defRPr>
            </a:pPr>
            <a:r>
              <a:t>Laporan terkirim ke cloud secara berkala.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  <a:latin typeface="Arial"/>
              </a:defRPr>
            </a:pPr>
            <a:r>
              <a:t>Owner dapat melihat performa kedai dari HP di rumah tanpa mengganggu kasir.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16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DD4BF"/>
                </a:solidFill>
                <a:latin typeface="Arial"/>
              </a:defRPr>
            </a:pPr>
            <a:r>
              <a:t>KEMUDAHAN INSTALASI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9144000" cy="73152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Cukup Gunakan HP, Tablet, atau Laptop yang Anda Punya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728655" cy="1828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5029200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400" b="0" i="0">
                <a:solidFill>
                  <a:srgbClr val="FFFFFF"/>
                </a:solidFill>
                <a:latin typeface="Arial"/>
              </a:defRPr>
            </a:pPr>
            <a:r>
              <a:t>Tidak ada keharusan membeli perangkat kasir khusus yang mahal. Aplikasi Bestari POS siap dipasang di alat apa pun milik Anda saat ini.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743200"/>
            <a:ext cx="5029200" cy="3200400"/>
          </a:xfrm>
          <a:prstGeom prst="roundRect">
            <a:avLst/>
          </a:prstGeom>
          <a:solidFill>
            <a:srgbClr val="082125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926080"/>
            <a:ext cx="46634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500" b="1">
                <a:solidFill>
                  <a:srgbClr val="FFFFFF"/>
                </a:solidFill>
                <a:latin typeface="Arial"/>
              </a:defRPr>
            </a:pPr>
            <a:r>
              <a:t>💻 Kebebasan Memilih Perangkat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383280"/>
            <a:ext cx="4663440" cy="2377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  <a:latin typeface="Arial"/>
              </a:defRPr>
            </a:pPr>
            <a:r>
              <a:t>• Tablet (iPad / Android Tablet): Sangat ideal untuk pajangan kasir meja depan yang rapi.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  <a:latin typeface="Arial"/>
              </a:defRPr>
            </a:pPr>
            <a:r>
              <a:t>• Handphone (Android / iOS): Kasir mobile, koki di dapur, atau pelayan di meja bisa memesan langsung dari HP.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  <a:latin typeface="Arial"/>
              </a:defRPr>
            </a:pPr>
            <a:r>
              <a:t>• Laptop &amp; PC: Sangat nyaman untuk outlet dengan volume transaksi besar atau printer struk kabel.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  <a:latin typeface="Arial"/>
              </a:defRPr>
            </a:pPr>
            <a:r>
              <a:t>• Printer Struk Bluetooth &amp; USB: Kompatibel penuh dengan berbagai merek printer struk termal di pasaran.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828800"/>
            <a:ext cx="50292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300" b="1" i="0">
                <a:solidFill>
                  <a:srgbClr val="2DD4BF"/>
                </a:solidFill>
                <a:latin typeface="Arial"/>
              </a:defRPr>
            </a:pPr>
            <a:r>
              <a:t>Langkah Instalasi Instan (PWA)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2377440"/>
            <a:ext cx="5029200" cy="1051560"/>
          </a:xfrm>
          <a:prstGeom prst="roundRect">
            <a:avLst/>
          </a:prstGeom>
          <a:solidFill>
            <a:srgbClr val="082125"/>
          </a:solidFill>
          <a:ln w="127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0" y="2514600"/>
            <a:ext cx="466344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200" b="1" i="0">
                <a:solidFill>
                  <a:srgbClr val="2DD4BF"/>
                </a:solidFill>
                <a:latin typeface="Arial"/>
              </a:defRPr>
            </a:pPr>
            <a:r>
              <a:t>1. Buka Link Aplikasi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2788920"/>
            <a:ext cx="466344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000" b="0" i="0">
                <a:solidFill>
                  <a:srgbClr val="94A3B8"/>
                </a:solidFill>
                <a:latin typeface="Arial"/>
              </a:defRPr>
            </a:pPr>
            <a:r>
              <a:t>Buka browser Chrome/Safari di HP/Tablet, lalu ketik alamat website POS.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0" y="3657600"/>
            <a:ext cx="5029200" cy="1051560"/>
          </a:xfrm>
          <a:prstGeom prst="roundRect">
            <a:avLst/>
          </a:prstGeom>
          <a:solidFill>
            <a:srgbClr val="082125"/>
          </a:solidFill>
          <a:ln w="127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0" y="3794760"/>
            <a:ext cx="466344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200" b="1" i="0">
                <a:solidFill>
                  <a:srgbClr val="2DD4BF"/>
                </a:solidFill>
                <a:latin typeface="Arial"/>
              </a:defRPr>
            </a:pPr>
            <a:r>
              <a:t>2. Klik 'Install App'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4069080"/>
            <a:ext cx="466344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000" b="0" i="0">
                <a:solidFill>
                  <a:srgbClr val="94A3B8"/>
                </a:solidFill>
                <a:latin typeface="Arial"/>
              </a:defRPr>
            </a:pPr>
            <a:r>
              <a:t>Klik tombol instalasi aplikasi yang muncul langsung di layar browser Anda.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0" y="4937760"/>
            <a:ext cx="5029200" cy="1051560"/>
          </a:xfrm>
          <a:prstGeom prst="roundRect">
            <a:avLst/>
          </a:prstGeom>
          <a:solidFill>
            <a:srgbClr val="082125"/>
          </a:solidFill>
          <a:ln w="127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0" y="5074920"/>
            <a:ext cx="466344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200" b="1" i="0">
                <a:solidFill>
                  <a:srgbClr val="2DD4BF"/>
                </a:solidFill>
                <a:latin typeface="Arial"/>
              </a:defRPr>
            </a:pPr>
            <a:r>
              <a:t>3. Siap Dipakai!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5349240"/>
            <a:ext cx="466344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000" b="0" i="0">
                <a:solidFill>
                  <a:srgbClr val="94A3B8"/>
                </a:solidFill>
                <a:latin typeface="Arial"/>
              </a:defRPr>
            </a:pPr>
            <a:r>
              <a:t>Ikon aplikasi kasir akan muncul di Home Screen. Buka, masukkan PIN, dan langsung jualan!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16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DD4BF"/>
                </a:solidFill>
                <a:latin typeface="Arial"/>
              </a:defRPr>
            </a:pPr>
            <a:r>
              <a:t>PAKET HARGA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9144000" cy="73152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Pilihan Paket Langganan Hemat &amp; Tanpa Biaya Tersembunyi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728655" cy="1828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3291840" cy="4023360"/>
          </a:xfrm>
          <a:prstGeom prst="roundRect">
            <a:avLst/>
          </a:prstGeom>
          <a:solidFill>
            <a:srgbClr val="082125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194560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500" b="1">
                <a:solidFill>
                  <a:srgbClr val="FFFFFF"/>
                </a:solidFill>
                <a:latin typeface="Arial"/>
              </a:defRPr>
            </a:pPr>
            <a:r>
              <a:t>Starter (Lokal Mandiri)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651760"/>
            <a:ext cx="2926080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  <a:latin typeface="Arial"/>
              </a:defRPr>
            </a:pPr>
            <a:r>
              <a:t>Rp 149.000 / Bulan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  <a:latin typeface="Arial"/>
              </a:defRPr>
            </a:pPr>
            <a:r>
              <a:t>------------------------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  <a:latin typeface="Arial"/>
              </a:defRPr>
            </a:pPr>
            <a:r>
              <a:t>Cocok untuk kedai kecil mandiri.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  <a:latin typeface="Arial"/>
              </a:defRPr>
            </a:pP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  <a:latin typeface="Arial"/>
              </a:defRPr>
            </a:pPr>
            <a:r>
              <a:t>✔ 1 Perangkat kasir aktif.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  <a:latin typeface="Arial"/>
              </a:defRPr>
            </a:pPr>
            <a:r>
              <a:t>✔ Fitur kasir lengkap.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  <a:latin typeface="Arial"/>
              </a:defRPr>
            </a:pPr>
            <a:r>
              <a:t>✔ Pilihan Add-on / varian.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  <a:latin typeface="Arial"/>
              </a:defRPr>
            </a:pPr>
            <a:r>
              <a:t>✔ Penyimpanan lokal di browser.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  <a:latin typeface="Arial"/>
              </a:defRPr>
            </a:pPr>
            <a:r>
              <a:t>✔ Ekspor laporan harian ke Excel.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  <a:latin typeface="Arial"/>
              </a:defRPr>
            </a:pPr>
            <a:r>
              <a:t>✔ Berjalan 100% offline.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2011680"/>
            <a:ext cx="3474720" cy="4206240"/>
          </a:xfrm>
          <a:prstGeom prst="roundRect">
            <a:avLst/>
          </a:prstGeom>
          <a:solidFill>
            <a:srgbClr val="082125"/>
          </a:solidFill>
          <a:ln w="1905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2194560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500" b="1">
                <a:solidFill>
                  <a:srgbClr val="FFFFFF"/>
                </a:solidFill>
                <a:latin typeface="Arial"/>
              </a:defRPr>
            </a:pPr>
            <a:r>
              <a:t>Professional (Rekomendasi)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2651760"/>
            <a:ext cx="3108960" cy="3383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  <a:latin typeface="Arial"/>
              </a:defRPr>
            </a:pPr>
            <a:r>
              <a:t>Rp 299.000 / Bulan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  <a:latin typeface="Arial"/>
              </a:defRPr>
            </a:pPr>
            <a:r>
              <a:t>------------------------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  <a:latin typeface="Arial"/>
              </a:defRPr>
            </a:pPr>
            <a:r>
              <a:t>Untuk bisnis berkembang &amp; multi-outlet.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  <a:latin typeface="Arial"/>
              </a:defRPr>
            </a:pP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  <a:latin typeface="Arial"/>
              </a:defRPr>
            </a:pPr>
            <a:r>
              <a:t>✔ Hubungkan banyak kasir &amp; dapur.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  <a:latin typeface="Arial"/>
              </a:defRPr>
            </a:pPr>
            <a:r>
              <a:t>✔ Cloud backup otomatis ke Supabase.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  <a:latin typeface="Arial"/>
              </a:defRPr>
            </a:pPr>
            <a:r>
              <a:t>✔ Modul resep &amp; stok bahan gudang.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  <a:latin typeface="Arial"/>
              </a:defRPr>
            </a:pPr>
            <a:r>
              <a:t>✔ Dashboard owner (laporan real-time).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  <a:latin typeface="Arial"/>
              </a:defRPr>
            </a:pPr>
            <a:r>
              <a:t>✔ Pembaruan fitur otomatis berkala.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  <a:latin typeface="Arial"/>
              </a:defRPr>
            </a:pPr>
            <a:r>
              <a:t>✔ Dukungan prioritas tim support.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60" y="2011680"/>
            <a:ext cx="3291840" cy="4023360"/>
          </a:xfrm>
          <a:prstGeom prst="roundRect">
            <a:avLst/>
          </a:prstGeom>
          <a:solidFill>
            <a:srgbClr val="082125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21040" y="2194560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500" b="1">
                <a:solidFill>
                  <a:srgbClr val="FFFFFF"/>
                </a:solidFill>
                <a:latin typeface="Arial"/>
              </a:defRPr>
            </a:pPr>
            <a:r>
              <a:t>Custom / Franchise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1040" y="2651760"/>
            <a:ext cx="2926080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  <a:latin typeface="Arial"/>
              </a:defRPr>
            </a:pPr>
            <a:r>
              <a:t>Hubungi Tim Sales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  <a:latin typeface="Arial"/>
              </a:defRPr>
            </a:pPr>
            <a:r>
              <a:t>------------------------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  <a:latin typeface="Arial"/>
              </a:defRPr>
            </a:pPr>
            <a:r>
              <a:t>Untuk jaringan usaha waralaba / franchise.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  <a:latin typeface="Arial"/>
              </a:defRPr>
            </a:pP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  <a:latin typeface="Arial"/>
              </a:defRPr>
            </a:pPr>
            <a:r>
              <a:t>✔ Nama domain &amp; logo aplikasi kustom.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  <a:latin typeface="Arial"/>
              </a:defRPr>
            </a:pPr>
            <a:r>
              <a:t>✔ Server cloud dedicated terpisah.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  <a:latin typeface="Arial"/>
              </a:defRPr>
            </a:pPr>
            <a:r>
              <a:t>✔ Custom integrasi pembayaran QRIS.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  <a:latin typeface="Arial"/>
              </a:defRPr>
            </a:pPr>
            <a:r>
              <a:t>✔ Hak milik data penjualan penuh.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  <a:latin typeface="Arial"/>
              </a:defRPr>
            </a:pPr>
            <a:r>
              <a:t>✔ Pendampingan setup di awal.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  <a:latin typeface="Arial"/>
              </a:defRPr>
            </a:pPr>
            <a:r>
              <a:t>✔ SLA Bantuan Teknis 24/7.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16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DD4BF"/>
                </a:solidFill>
                <a:latin typeface="Arial"/>
              </a:defRPr>
            </a:pPr>
            <a:r>
              <a:t>MENGAPA BESTARI POS?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9144000" cy="73152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Bandingkan Keunggulan Bestari POS dari Kasir Biasa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728655" cy="1828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645920"/>
            <a:ext cx="10728655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200" b="0" i="0">
                <a:solidFill>
                  <a:srgbClr val="FFFFFF"/>
                </a:solidFill>
                <a:latin typeface="Arial"/>
              </a:defRPr>
            </a:pPr>
            <a:r>
              <a:t>Berikut perbandingan fitur utama Bestari POS dengan aplikasi kasir cloud pada umumnya: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1520" y="2103120"/>
          <a:ext cx="10728655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82163"/>
                <a:gridCol w="2682163"/>
                <a:gridCol w="2682163"/>
                <a:gridCol w="2682166"/>
              </a:tblGrid>
              <a:tr h="64008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Fitur Kasir</a:t>
                      </a:r>
                    </a:p>
                  </a:txBody>
                  <a:tcPr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Bestari POS (Offline-First)</a:t>
                      </a:r>
                    </a:p>
                  </a:txBody>
                  <a:tcPr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Aplikasi Kasir Cloud Umum</a:t>
                      </a:r>
                    </a:p>
                  </a:txBody>
                  <a:tcPr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Mesin Kasir Tradisional</a:t>
                      </a:r>
                    </a:p>
                  </a:txBody>
                  <a:tcPr>
                    <a:solidFill>
                      <a:srgbClr val="0D9488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Konektivitas Internet</a:t>
                      </a:r>
                    </a:p>
                  </a:txBody>
                  <a:tcPr>
                    <a:solidFill>
                      <a:srgbClr val="08212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Bekerja normal 100% tanpa internet (Downtime-safe)</a:t>
                      </a:r>
                    </a:p>
                  </a:txBody>
                  <a:tcPr>
                    <a:solidFill>
                      <a:srgbClr val="08212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Kasir tidak bisa transaksi saat internet putus</a:t>
                      </a:r>
                    </a:p>
                  </a:txBody>
                  <a:tcPr>
                    <a:solidFill>
                      <a:srgbClr val="08212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Offline penuh tapi tidak ada sinkronisasi cloud</a:t>
                      </a:r>
                    </a:p>
                  </a:txBody>
                  <a:tcPr>
                    <a:solidFill>
                      <a:srgbClr val="082125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Biaya Bulanan</a:t>
                      </a:r>
                    </a:p>
                  </a:txBody>
                  <a:tcPr>
                    <a:solidFill>
                      <a:srgbClr val="0A2A2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Sangat hemat &amp; transparan (Mulai Rp 149rb/outlet)</a:t>
                      </a:r>
                    </a:p>
                  </a:txBody>
                  <a:tcPr>
                    <a:solidFill>
                      <a:srgbClr val="0A2A2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Mahal (sering Rp 300rb-500rb/alat/bulan)</a:t>
                      </a:r>
                    </a:p>
                  </a:txBody>
                  <a:tcPr>
                    <a:solidFill>
                      <a:srgbClr val="0A2A2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Sekali bayar tapi beli hardware mahal sekali di awal</a:t>
                      </a:r>
                    </a:p>
                  </a:txBody>
                  <a:tcPr>
                    <a:solidFill>
                      <a:srgbClr val="0A2A2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Kontrol Stok Bahan</a:t>
                      </a:r>
                    </a:p>
                  </a:txBody>
                  <a:tcPr>
                    <a:solidFill>
                      <a:srgbClr val="08212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Otomatis memotong bahan resep terperinci (real-time)</a:t>
                      </a:r>
                    </a:p>
                  </a:txBody>
                  <a:tcPr>
                    <a:solidFill>
                      <a:srgbClr val="08212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Banyak yang harus bayar modul stok terpisah</a:t>
                      </a:r>
                    </a:p>
                  </a:txBody>
                  <a:tcPr>
                    <a:solidFill>
                      <a:srgbClr val="08212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Manual mencocokkan di kertas atau Excel</a:t>
                      </a:r>
                    </a:p>
                  </a:txBody>
                  <a:tcPr>
                    <a:solidFill>
                      <a:srgbClr val="082125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Fleksibilitas Alat</a:t>
                      </a:r>
                    </a:p>
                  </a:txBody>
                  <a:tcPr>
                    <a:solidFill>
                      <a:srgbClr val="0A2A2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Kompatibel di HP kasir lama, tablet, maupun laptop</a:t>
                      </a:r>
                    </a:p>
                  </a:txBody>
                  <a:tcPr>
                    <a:solidFill>
                      <a:srgbClr val="0A2A2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Wajib spesifikasi tablet baru atau terminal hardware vendor</a:t>
                      </a:r>
                    </a:p>
                  </a:txBody>
                  <a:tcPr>
                    <a:solidFill>
                      <a:srgbClr val="0A2A2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Hanya bisa di monitor mesin kasir bawaan pabrik</a:t>
                      </a:r>
                    </a:p>
                  </a:txBody>
                  <a:tcPr>
                    <a:solidFill>
                      <a:srgbClr val="0A2A2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Laporan Owner</a:t>
                      </a:r>
                    </a:p>
                  </a:txBody>
                  <a:tcPr>
                    <a:solidFill>
                      <a:srgbClr val="08212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Akses dashboard real-time dari mana saja via cloud</a:t>
                      </a:r>
                    </a:p>
                  </a:txBody>
                  <a:tcPr>
                    <a:solidFill>
                      <a:srgbClr val="08212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Bisa dipantau tapi sering terhambat data kasir macet</a:t>
                      </a:r>
                    </a:p>
                  </a:txBody>
                  <a:tcPr>
                    <a:solidFill>
                      <a:srgbClr val="08212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Harus datang langsung ke toko untuk melihat laporan</a:t>
                      </a:r>
                    </a:p>
                  </a:txBody>
                  <a:tcPr>
                    <a:solidFill>
                      <a:srgbClr val="08212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16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371600" y="1371600"/>
            <a:ext cx="9448495" cy="4114800"/>
          </a:xfrm>
          <a:prstGeom prst="roundRect">
            <a:avLst/>
          </a:prstGeom>
          <a:solidFill>
            <a:srgbClr val="082125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0" y="2011680"/>
            <a:ext cx="8534095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2400" b="1" i="0">
                <a:solidFill>
                  <a:srgbClr val="2DD4BF"/>
                </a:solidFill>
                <a:latin typeface="Arial"/>
              </a:defRPr>
            </a:pPr>
            <a:r>
              <a:t>Siap Mengembangkan Usaha Kuliner Anda?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2743200"/>
            <a:ext cx="8534095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400" b="0" i="0">
                <a:solidFill>
                  <a:srgbClr val="FFFFFF"/>
                </a:solidFill>
                <a:latin typeface="Arial"/>
              </a:defRPr>
            </a:pPr>
            <a:r>
              <a:t>Jangan biarkan masalah internet lambat mengganggu transaksi Anda. Mulai uji coba Bestari POS sekarang juga secara gratis selama 14 hari penuh!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0" y="3566160"/>
            <a:ext cx="4876495" cy="13716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28800" y="3840480"/>
            <a:ext cx="8534095" cy="1097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200" b="0" i="0">
                <a:solidFill>
                  <a:srgbClr val="94A3B8"/>
                </a:solidFill>
                <a:latin typeface="Arial"/>
              </a:defRPr>
            </a:pPr>
            <a:r>
              <a:t>Hubungi Tim Sales Bestari POS untuk Jadwal Demo Gratis:</a:t>
            </a:r>
            <a:br/>
            <a:r>
              <a:t>📞 WhatsApp: +62 812-3456-7890   |   📧 Email: sales@bestaripos.com</a:t>
            </a:r>
            <a:br/>
            <a:r>
              <a:t>🌐 Website: bestaripos.com   |   📍 Kantor Layanan: Jakarta, Indonesia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